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0" r:id="rId1"/>
  </p:sldMasterIdLst>
  <p:notesMasterIdLst>
    <p:notesMasterId r:id="rId14"/>
  </p:notesMasterIdLst>
  <p:sldIdLst>
    <p:sldId id="256" r:id="rId2"/>
    <p:sldId id="270" r:id="rId3"/>
    <p:sldId id="273" r:id="rId4"/>
    <p:sldId id="257" r:id="rId5"/>
    <p:sldId id="263" r:id="rId6"/>
    <p:sldId id="264" r:id="rId7"/>
    <p:sldId id="261" r:id="rId8"/>
    <p:sldId id="265" r:id="rId9"/>
    <p:sldId id="266" r:id="rId10"/>
    <p:sldId id="262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C73"/>
    <a:srgbClr val="F5A700"/>
    <a:srgbClr val="F53131"/>
    <a:srgbClr val="799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F3819-74C8-C330-E1EB-77B2FF3225E7}" v="18" dt="2026-03-02T21:35:34.192"/>
    <p1510:client id="{3CCB5083-11AB-12E8-1C1B-2D1F0CAEDCA9}" v="3" dt="2026-03-02T21:40:16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E4DC07-D31D-433F-80B8-74013D25B8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A5FFF9-79F9-4418-B2CA-4E60FC5C66ED}">
      <dgm:prSet phldrT="[Text]" phldr="0"/>
      <dgm:spPr>
        <a:solidFill>
          <a:srgbClr val="0070C0"/>
        </a:solidFill>
      </dgm:spPr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Customers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Customer company and geographic details for segmentation analysis.</a:t>
          </a:r>
        </a:p>
      </dgm:t>
    </dgm:pt>
    <dgm:pt modelId="{7AD6E23D-D63D-4305-871D-78443BA2B2B4}" type="parTrans" cxnId="{C08A55D3-1257-4CC9-A6F0-BF8F84A86E5F}">
      <dgm:prSet/>
      <dgm:spPr/>
      <dgm:t>
        <a:bodyPr/>
        <a:lstStyle/>
        <a:p>
          <a:endParaRPr lang="en-US"/>
        </a:p>
      </dgm:t>
    </dgm:pt>
    <dgm:pt modelId="{A180D7BB-00CE-4FC3-89DA-7BB6BFF5A81C}" type="sibTrans" cxnId="{C08A55D3-1257-4CC9-A6F0-BF8F84A86E5F}">
      <dgm:prSet/>
      <dgm:spPr/>
      <dgm:t>
        <a:bodyPr/>
        <a:lstStyle/>
        <a:p>
          <a:endParaRPr lang="en-US"/>
        </a:p>
      </dgm:t>
    </dgm:pt>
    <dgm:pt modelId="{232CF62C-9844-4A25-BE29-91909DB19055}">
      <dgm:prSet phldrT="[Text]" phldr="0"/>
      <dgm:spPr>
        <a:solidFill>
          <a:schemeClr val="accent3"/>
        </a:solidFill>
      </dgm:spPr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Employees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Employee information for workforce performance evaluation.</a:t>
          </a:r>
        </a:p>
      </dgm:t>
    </dgm:pt>
    <dgm:pt modelId="{3A91C1E9-07F7-4CBC-9844-130CAED05EE6}" type="parTrans" cxnId="{2B9175A6-93DD-4767-8C23-74EA560A5457}">
      <dgm:prSet/>
      <dgm:spPr/>
      <dgm:t>
        <a:bodyPr/>
        <a:lstStyle/>
        <a:p>
          <a:endParaRPr lang="en-US"/>
        </a:p>
      </dgm:t>
    </dgm:pt>
    <dgm:pt modelId="{809F55A0-D243-40F0-9841-8F631D27A18F}" type="sibTrans" cxnId="{2B9175A6-93DD-4767-8C23-74EA560A5457}">
      <dgm:prSet/>
      <dgm:spPr/>
      <dgm:t>
        <a:bodyPr/>
        <a:lstStyle/>
        <a:p>
          <a:endParaRPr lang="en-US"/>
        </a:p>
      </dgm:t>
    </dgm:pt>
    <dgm:pt modelId="{4B8B51CE-9570-46C6-B6C9-9B0966CDD344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Orders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Order-level transactional data for sales trend analysis.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0A051343-8E5A-44FA-A5B6-13EC07D83487}" type="parTrans" cxnId="{962796F0-6D94-45CA-82C4-69F13F6B625D}">
      <dgm:prSet/>
      <dgm:spPr/>
    </dgm:pt>
    <dgm:pt modelId="{0886317B-2969-420F-A3F6-6949B90E09EA}" type="sibTrans" cxnId="{962796F0-6D94-45CA-82C4-69F13F6B625D}">
      <dgm:prSet/>
      <dgm:spPr/>
      <dgm:t>
        <a:bodyPr/>
        <a:lstStyle/>
        <a:p>
          <a:endParaRPr lang="en-US"/>
        </a:p>
      </dgm:t>
    </dgm:pt>
    <dgm:pt modelId="{83E4FD2D-AA4C-471C-B962-E457F628AC4D}">
      <dgm:prSet phldr="0"/>
      <dgm:spPr>
        <a:solidFill>
          <a:srgbClr val="F53131"/>
        </a:solidFill>
      </dgm:spPr>
      <dgm:t>
        <a:bodyPr/>
        <a:lstStyle/>
        <a:p>
          <a:pPr algn="l" rtl="0">
            <a:lnSpc>
              <a:spcPct val="90000"/>
            </a:lnSpc>
          </a:pP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Order Details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Product-level sales data including quantity, price, and discount.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2C5AFC98-E99B-4BE8-AC89-B2CB1639F649}" type="parTrans" cxnId="{A820F710-EAB2-425B-8021-9A481827F9B6}">
      <dgm:prSet/>
      <dgm:spPr/>
    </dgm:pt>
    <dgm:pt modelId="{4C1F57FF-5957-416F-AEC5-BA3FAA3D822D}" type="sibTrans" cxnId="{A820F710-EAB2-425B-8021-9A481827F9B6}">
      <dgm:prSet/>
      <dgm:spPr/>
      <dgm:t>
        <a:bodyPr/>
        <a:lstStyle/>
        <a:p>
          <a:endParaRPr lang="en-US"/>
        </a:p>
      </dgm:t>
    </dgm:pt>
    <dgm:pt modelId="{54180091-985A-440C-99EA-ABA990C5796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Products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Product catalog with pricing and stock information.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55FC7751-780B-44BD-A0B7-36139BCE319E}" type="parTrans" cxnId="{0A0099E4-E41C-433D-A89D-8089279B0E12}">
      <dgm:prSet/>
      <dgm:spPr/>
    </dgm:pt>
    <dgm:pt modelId="{08E33B60-DEC4-4D37-BFC3-CE1176A0BFCE}" type="sibTrans" cxnId="{0A0099E4-E41C-433D-A89D-8089279B0E12}">
      <dgm:prSet/>
      <dgm:spPr/>
      <dgm:t>
        <a:bodyPr/>
        <a:lstStyle/>
        <a:p>
          <a:endParaRPr lang="en-US"/>
        </a:p>
      </dgm:t>
    </dgm:pt>
    <dgm:pt modelId="{1370F912-73F9-4035-AAC0-34424262EB1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dirty="0">
              <a:solidFill>
                <a:srgbClr val="FFFFFF"/>
              </a:solidFill>
              <a:ea typeface="+mn-ea"/>
              <a:cs typeface="+mn-cs"/>
            </a:rPr>
            <a:t>Suppliers</a:t>
          </a:r>
          <a:r>
            <a:rPr lang="en-US" sz="1400" dirty="0">
              <a:solidFill>
                <a:srgbClr val="FFFFFF"/>
              </a:solidFill>
              <a:ea typeface="+mn-ea"/>
              <a:cs typeface="+mn-cs"/>
            </a:rPr>
            <a:t> – Vendor details for supply chain analysis.</a:t>
          </a:r>
          <a:endParaRPr lang="en-US" sz="14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1FE7DB24-0D2F-4745-972C-56CE2EA08685}" type="parTrans" cxnId="{BA5E90F6-395D-4E07-8A66-ED0A579EFF16}">
      <dgm:prSet/>
      <dgm:spPr/>
    </dgm:pt>
    <dgm:pt modelId="{0C6B1FA5-4577-40C6-B4B2-0A4113FAF703}" type="sibTrans" cxnId="{BA5E90F6-395D-4E07-8A66-ED0A579EFF16}">
      <dgm:prSet/>
      <dgm:spPr/>
      <dgm:t>
        <a:bodyPr/>
        <a:lstStyle/>
        <a:p>
          <a:endParaRPr lang="en-US"/>
        </a:p>
      </dgm:t>
    </dgm:pt>
    <dgm:pt modelId="{545CB196-A726-49CA-B0FA-5AC63DF2DCF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Shippers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Shipping company data for logistics performance.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86A4D813-D706-4B45-912D-D054DE173CAD}" type="parTrans" cxnId="{8606551D-3F2A-4485-9584-630367A701E7}">
      <dgm:prSet/>
      <dgm:spPr/>
    </dgm:pt>
    <dgm:pt modelId="{C5BC99FC-224C-4DB3-ACE8-DFF4F035A1CF}" type="sibTrans" cxnId="{8606551D-3F2A-4485-9584-630367A701E7}">
      <dgm:prSet/>
      <dgm:spPr/>
      <dgm:t>
        <a:bodyPr/>
        <a:lstStyle/>
        <a:p>
          <a:endParaRPr lang="en-US"/>
        </a:p>
      </dgm:t>
    </dgm:pt>
    <dgm:pt modelId="{B56707DA-4C36-4112-A384-675E661D427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Categories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Product classification for category-wise analysis.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298A767B-6BA3-4208-8B4F-E709B6F0994B}" type="parTrans" cxnId="{85D52CB6-BC0D-4F51-84FB-25AA3F04C9D3}">
      <dgm:prSet/>
      <dgm:spPr/>
    </dgm:pt>
    <dgm:pt modelId="{22DBC15F-1CA9-407B-8C25-73198AD5D302}" type="sibTrans" cxnId="{85D52CB6-BC0D-4F51-84FB-25AA3F04C9D3}">
      <dgm:prSet/>
      <dgm:spPr/>
      <dgm:t>
        <a:bodyPr/>
        <a:lstStyle/>
        <a:p>
          <a:endParaRPr lang="en-US"/>
        </a:p>
      </dgm:t>
    </dgm:pt>
    <dgm:pt modelId="{2DBA12C4-CADD-407F-8106-0A21CC333920}" type="pres">
      <dgm:prSet presAssocID="{94E4DC07-D31D-433F-80B8-74013D25B86C}" presName="linear" presStyleCnt="0">
        <dgm:presLayoutVars>
          <dgm:animLvl val="lvl"/>
          <dgm:resizeHandles val="exact"/>
        </dgm:presLayoutVars>
      </dgm:prSet>
      <dgm:spPr/>
    </dgm:pt>
    <dgm:pt modelId="{0E29E9F2-16D4-4C23-BC3C-1A0DDDCA487E}" type="pres">
      <dgm:prSet presAssocID="{61A5FFF9-79F9-4418-B2CA-4E60FC5C66ED}" presName="parentText" presStyleLbl="node1" presStyleIdx="0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48F5B28B-3FB4-4F86-BA04-D187900FE292}" type="pres">
      <dgm:prSet presAssocID="{A180D7BB-00CE-4FC3-89DA-7BB6BFF5A81C}" presName="spacer" presStyleCnt="0"/>
      <dgm:spPr/>
    </dgm:pt>
    <dgm:pt modelId="{89C77764-2B7E-4721-BACA-30E0B1C11D1C}" type="pres">
      <dgm:prSet presAssocID="{232CF62C-9844-4A25-BE29-91909DB19055}" presName="parentText" presStyleLbl="node1" presStyleIdx="1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535089C0-61E8-4901-A7E1-26ABC3AB4BEA}" type="pres">
      <dgm:prSet presAssocID="{809F55A0-D243-40F0-9841-8F631D27A18F}" presName="spacer" presStyleCnt="0"/>
      <dgm:spPr/>
    </dgm:pt>
    <dgm:pt modelId="{300B004B-1E59-4C82-92FE-3B3CA5C72E9E}" type="pres">
      <dgm:prSet presAssocID="{4B8B51CE-9570-46C6-B6C9-9B0966CDD344}" presName="parentText" presStyleLbl="node1" presStyleIdx="2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9E889FE1-4B80-4145-A1CC-A2A63BF16271}" type="pres">
      <dgm:prSet presAssocID="{0886317B-2969-420F-A3F6-6949B90E09EA}" presName="spacer" presStyleCnt="0"/>
      <dgm:spPr/>
    </dgm:pt>
    <dgm:pt modelId="{64C4849E-5E9A-4C27-A823-6711F25C8A22}" type="pres">
      <dgm:prSet presAssocID="{83E4FD2D-AA4C-471C-B962-E457F628AC4D}" presName="parentText" presStyleLbl="node1" presStyleIdx="3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846A03D0-2D3A-4965-8638-176170103D87}" type="pres">
      <dgm:prSet presAssocID="{4C1F57FF-5957-416F-AEC5-BA3FAA3D822D}" presName="spacer" presStyleCnt="0"/>
      <dgm:spPr/>
    </dgm:pt>
    <dgm:pt modelId="{E32AA34C-7395-4AEE-BA71-0331C68C42E6}" type="pres">
      <dgm:prSet presAssocID="{54180091-985A-440C-99EA-ABA990C5796D}" presName="parentText" presStyleLbl="node1" presStyleIdx="4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DB0437C5-E7DD-4610-AE77-91DC30E3147F}" type="pres">
      <dgm:prSet presAssocID="{08E33B60-DEC4-4D37-BFC3-CE1176A0BFCE}" presName="spacer" presStyleCnt="0"/>
      <dgm:spPr/>
    </dgm:pt>
    <dgm:pt modelId="{BBE02A1C-175B-45F2-8BE5-2A5D631DBE87}" type="pres">
      <dgm:prSet presAssocID="{1370F912-73F9-4035-AAC0-34424262EB15}" presName="parentText" presStyleLbl="node1" presStyleIdx="5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63104B72-09B1-4DB0-9A61-9707BCA9C7CA}" type="pres">
      <dgm:prSet presAssocID="{0C6B1FA5-4577-40C6-B4B2-0A4113FAF703}" presName="spacer" presStyleCnt="0"/>
      <dgm:spPr/>
    </dgm:pt>
    <dgm:pt modelId="{5D1FB33A-49B9-4CC2-838E-B6C92AAE0EB3}" type="pres">
      <dgm:prSet presAssocID="{545CB196-A726-49CA-B0FA-5AC63DF2DCFE}" presName="parentText" presStyleLbl="node1" presStyleIdx="6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FAE2BA16-5BBF-4649-B10D-E4BB89C778E2}" type="pres">
      <dgm:prSet presAssocID="{C5BC99FC-224C-4DB3-ACE8-DFF4F035A1CF}" presName="spacer" presStyleCnt="0"/>
      <dgm:spPr/>
    </dgm:pt>
    <dgm:pt modelId="{41E755E2-3BA0-495D-8234-086CA1F9493B}" type="pres">
      <dgm:prSet presAssocID="{B56707DA-4C36-4112-A384-675E661D427D}" presName="parentText" presStyleLbl="node1" presStyleIdx="7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</dgm:ptLst>
  <dgm:cxnLst>
    <dgm:cxn modelId="{D382AD02-E012-4432-A8B0-11B7DABAC267}" type="presOf" srcId="{4B8B51CE-9570-46C6-B6C9-9B0966CDD344}" destId="{300B004B-1E59-4C82-92FE-3B3CA5C72E9E}" srcOrd="0" destOrd="0" presId="urn:microsoft.com/office/officeart/2005/8/layout/vList2"/>
    <dgm:cxn modelId="{F344EA0E-3EDE-454C-A981-C8EC7A7169A2}" type="presOf" srcId="{B56707DA-4C36-4112-A384-675E661D427D}" destId="{41E755E2-3BA0-495D-8234-086CA1F9493B}" srcOrd="0" destOrd="0" presId="urn:microsoft.com/office/officeart/2005/8/layout/vList2"/>
    <dgm:cxn modelId="{9D0D1D10-FA55-4380-97BA-1F499CCD35E3}" type="presOf" srcId="{232CF62C-9844-4A25-BE29-91909DB19055}" destId="{89C77764-2B7E-4721-BACA-30E0B1C11D1C}" srcOrd="0" destOrd="0" presId="urn:microsoft.com/office/officeart/2005/8/layout/vList2"/>
    <dgm:cxn modelId="{A820F710-EAB2-425B-8021-9A481827F9B6}" srcId="{94E4DC07-D31D-433F-80B8-74013D25B86C}" destId="{83E4FD2D-AA4C-471C-B962-E457F628AC4D}" srcOrd="3" destOrd="0" parTransId="{2C5AFC98-E99B-4BE8-AC89-B2CB1639F649}" sibTransId="{4C1F57FF-5957-416F-AEC5-BA3FAA3D822D}"/>
    <dgm:cxn modelId="{B501DA1B-B8E1-4302-B7F0-54BDE8B3F3F6}" type="presOf" srcId="{94E4DC07-D31D-433F-80B8-74013D25B86C}" destId="{2DBA12C4-CADD-407F-8106-0A21CC333920}" srcOrd="0" destOrd="0" presId="urn:microsoft.com/office/officeart/2005/8/layout/vList2"/>
    <dgm:cxn modelId="{8606551D-3F2A-4485-9584-630367A701E7}" srcId="{94E4DC07-D31D-433F-80B8-74013D25B86C}" destId="{545CB196-A726-49CA-B0FA-5AC63DF2DCFE}" srcOrd="6" destOrd="0" parTransId="{86A4D813-D706-4B45-912D-D054DE173CAD}" sibTransId="{C5BC99FC-224C-4DB3-ACE8-DFF4F035A1CF}"/>
    <dgm:cxn modelId="{60D2D045-F1BC-4FEC-8DA0-72EB6FDF68ED}" type="presOf" srcId="{61A5FFF9-79F9-4418-B2CA-4E60FC5C66ED}" destId="{0E29E9F2-16D4-4C23-BC3C-1A0DDDCA487E}" srcOrd="0" destOrd="0" presId="urn:microsoft.com/office/officeart/2005/8/layout/vList2"/>
    <dgm:cxn modelId="{0D4FBD6D-8A03-4998-8B8B-1B10F7AFAA0B}" type="presOf" srcId="{1370F912-73F9-4035-AAC0-34424262EB15}" destId="{BBE02A1C-175B-45F2-8BE5-2A5D631DBE87}" srcOrd="0" destOrd="0" presId="urn:microsoft.com/office/officeart/2005/8/layout/vList2"/>
    <dgm:cxn modelId="{4865DD88-E12D-41B1-BE70-3F18F489F7F0}" type="presOf" srcId="{83E4FD2D-AA4C-471C-B962-E457F628AC4D}" destId="{64C4849E-5E9A-4C27-A823-6711F25C8A22}" srcOrd="0" destOrd="0" presId="urn:microsoft.com/office/officeart/2005/8/layout/vList2"/>
    <dgm:cxn modelId="{2B9175A6-93DD-4767-8C23-74EA560A5457}" srcId="{94E4DC07-D31D-433F-80B8-74013D25B86C}" destId="{232CF62C-9844-4A25-BE29-91909DB19055}" srcOrd="1" destOrd="0" parTransId="{3A91C1E9-07F7-4CBC-9844-130CAED05EE6}" sibTransId="{809F55A0-D243-40F0-9841-8F631D27A18F}"/>
    <dgm:cxn modelId="{85D52CB6-BC0D-4F51-84FB-25AA3F04C9D3}" srcId="{94E4DC07-D31D-433F-80B8-74013D25B86C}" destId="{B56707DA-4C36-4112-A384-675E661D427D}" srcOrd="7" destOrd="0" parTransId="{298A767B-6BA3-4208-8B4F-E709B6F0994B}" sibTransId="{22DBC15F-1CA9-407B-8C25-73198AD5D302}"/>
    <dgm:cxn modelId="{E45C61CD-AA0C-42A9-B589-E24698D231FE}" type="presOf" srcId="{54180091-985A-440C-99EA-ABA990C5796D}" destId="{E32AA34C-7395-4AEE-BA71-0331C68C42E6}" srcOrd="0" destOrd="0" presId="urn:microsoft.com/office/officeart/2005/8/layout/vList2"/>
    <dgm:cxn modelId="{C08A55D3-1257-4CC9-A6F0-BF8F84A86E5F}" srcId="{94E4DC07-D31D-433F-80B8-74013D25B86C}" destId="{61A5FFF9-79F9-4418-B2CA-4E60FC5C66ED}" srcOrd="0" destOrd="0" parTransId="{7AD6E23D-D63D-4305-871D-78443BA2B2B4}" sibTransId="{A180D7BB-00CE-4FC3-89DA-7BB6BFF5A81C}"/>
    <dgm:cxn modelId="{0A0099E4-E41C-433D-A89D-8089279B0E12}" srcId="{94E4DC07-D31D-433F-80B8-74013D25B86C}" destId="{54180091-985A-440C-99EA-ABA990C5796D}" srcOrd="4" destOrd="0" parTransId="{55FC7751-780B-44BD-A0B7-36139BCE319E}" sibTransId="{08E33B60-DEC4-4D37-BFC3-CE1176A0BFCE}"/>
    <dgm:cxn modelId="{962796F0-6D94-45CA-82C4-69F13F6B625D}" srcId="{94E4DC07-D31D-433F-80B8-74013D25B86C}" destId="{4B8B51CE-9570-46C6-B6C9-9B0966CDD344}" srcOrd="2" destOrd="0" parTransId="{0A051343-8E5A-44FA-A5B6-13EC07D83487}" sibTransId="{0886317B-2969-420F-A3F6-6949B90E09EA}"/>
    <dgm:cxn modelId="{E3D36EF3-E7B2-46EB-8E44-D06A408E2A40}" type="presOf" srcId="{545CB196-A726-49CA-B0FA-5AC63DF2DCFE}" destId="{5D1FB33A-49B9-4CC2-838E-B6C92AAE0EB3}" srcOrd="0" destOrd="0" presId="urn:microsoft.com/office/officeart/2005/8/layout/vList2"/>
    <dgm:cxn modelId="{BA5E90F6-395D-4E07-8A66-ED0A579EFF16}" srcId="{94E4DC07-D31D-433F-80B8-74013D25B86C}" destId="{1370F912-73F9-4035-AAC0-34424262EB15}" srcOrd="5" destOrd="0" parTransId="{1FE7DB24-0D2F-4745-972C-56CE2EA08685}" sibTransId="{0C6B1FA5-4577-40C6-B4B2-0A4113FAF703}"/>
    <dgm:cxn modelId="{188CDCB7-F834-41D6-8ED5-F5C0C00488CF}" type="presParOf" srcId="{2DBA12C4-CADD-407F-8106-0A21CC333920}" destId="{0E29E9F2-16D4-4C23-BC3C-1A0DDDCA487E}" srcOrd="0" destOrd="0" presId="urn:microsoft.com/office/officeart/2005/8/layout/vList2"/>
    <dgm:cxn modelId="{B6609E9C-8E84-47AB-8C6D-1720BF169543}" type="presParOf" srcId="{2DBA12C4-CADD-407F-8106-0A21CC333920}" destId="{48F5B28B-3FB4-4F86-BA04-D187900FE292}" srcOrd="1" destOrd="0" presId="urn:microsoft.com/office/officeart/2005/8/layout/vList2"/>
    <dgm:cxn modelId="{8936B9A8-5135-4944-932F-3CD7A49D439F}" type="presParOf" srcId="{2DBA12C4-CADD-407F-8106-0A21CC333920}" destId="{89C77764-2B7E-4721-BACA-30E0B1C11D1C}" srcOrd="2" destOrd="0" presId="urn:microsoft.com/office/officeart/2005/8/layout/vList2"/>
    <dgm:cxn modelId="{9D534826-5B7E-45FE-8E9B-AE819BEA09D3}" type="presParOf" srcId="{2DBA12C4-CADD-407F-8106-0A21CC333920}" destId="{535089C0-61E8-4901-A7E1-26ABC3AB4BEA}" srcOrd="3" destOrd="0" presId="urn:microsoft.com/office/officeart/2005/8/layout/vList2"/>
    <dgm:cxn modelId="{3EFAECDC-F1E1-4726-B7B3-DB7ED2B28654}" type="presParOf" srcId="{2DBA12C4-CADD-407F-8106-0A21CC333920}" destId="{300B004B-1E59-4C82-92FE-3B3CA5C72E9E}" srcOrd="4" destOrd="0" presId="urn:microsoft.com/office/officeart/2005/8/layout/vList2"/>
    <dgm:cxn modelId="{54C24AB1-9577-4C5C-A9BE-AEEF4C0F23CA}" type="presParOf" srcId="{2DBA12C4-CADD-407F-8106-0A21CC333920}" destId="{9E889FE1-4B80-4145-A1CC-A2A63BF16271}" srcOrd="5" destOrd="0" presId="urn:microsoft.com/office/officeart/2005/8/layout/vList2"/>
    <dgm:cxn modelId="{E9E9A380-9B54-4ABD-9A51-4BDA7347457E}" type="presParOf" srcId="{2DBA12C4-CADD-407F-8106-0A21CC333920}" destId="{64C4849E-5E9A-4C27-A823-6711F25C8A22}" srcOrd="6" destOrd="0" presId="urn:microsoft.com/office/officeart/2005/8/layout/vList2"/>
    <dgm:cxn modelId="{4E0755E5-E192-4A93-A51A-D66BCAE9338A}" type="presParOf" srcId="{2DBA12C4-CADD-407F-8106-0A21CC333920}" destId="{846A03D0-2D3A-4965-8638-176170103D87}" srcOrd="7" destOrd="0" presId="urn:microsoft.com/office/officeart/2005/8/layout/vList2"/>
    <dgm:cxn modelId="{EBD860D9-55E7-49D6-9F4F-D88231775B48}" type="presParOf" srcId="{2DBA12C4-CADD-407F-8106-0A21CC333920}" destId="{E32AA34C-7395-4AEE-BA71-0331C68C42E6}" srcOrd="8" destOrd="0" presId="urn:microsoft.com/office/officeart/2005/8/layout/vList2"/>
    <dgm:cxn modelId="{2DB75FB4-4280-417E-A488-FD3341450594}" type="presParOf" srcId="{2DBA12C4-CADD-407F-8106-0A21CC333920}" destId="{DB0437C5-E7DD-4610-AE77-91DC30E3147F}" srcOrd="9" destOrd="0" presId="urn:microsoft.com/office/officeart/2005/8/layout/vList2"/>
    <dgm:cxn modelId="{FC89561B-B74D-45D3-B709-48F3043C58C3}" type="presParOf" srcId="{2DBA12C4-CADD-407F-8106-0A21CC333920}" destId="{BBE02A1C-175B-45F2-8BE5-2A5D631DBE87}" srcOrd="10" destOrd="0" presId="urn:microsoft.com/office/officeart/2005/8/layout/vList2"/>
    <dgm:cxn modelId="{0F221F5E-6124-4D0B-B9F8-B8768A0ABBF8}" type="presParOf" srcId="{2DBA12C4-CADD-407F-8106-0A21CC333920}" destId="{63104B72-09B1-4DB0-9A61-9707BCA9C7CA}" srcOrd="11" destOrd="0" presId="urn:microsoft.com/office/officeart/2005/8/layout/vList2"/>
    <dgm:cxn modelId="{2E80A554-D839-44F6-9996-30FA6732F0DE}" type="presParOf" srcId="{2DBA12C4-CADD-407F-8106-0A21CC333920}" destId="{5D1FB33A-49B9-4CC2-838E-B6C92AAE0EB3}" srcOrd="12" destOrd="0" presId="urn:microsoft.com/office/officeart/2005/8/layout/vList2"/>
    <dgm:cxn modelId="{74AFF9C6-DECF-40DA-ADC6-F65652121B2A}" type="presParOf" srcId="{2DBA12C4-CADD-407F-8106-0A21CC333920}" destId="{FAE2BA16-5BBF-4649-B10D-E4BB89C778E2}" srcOrd="13" destOrd="0" presId="urn:microsoft.com/office/officeart/2005/8/layout/vList2"/>
    <dgm:cxn modelId="{F7EDB2F9-8058-4825-9061-4AEEAD412AAE}" type="presParOf" srcId="{2DBA12C4-CADD-407F-8106-0A21CC333920}" destId="{41E755E2-3BA0-495D-8234-086CA1F9493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9E9F2-16D4-4C23-BC3C-1A0DDDCA487E}">
      <dsp:nvSpPr>
        <dsp:cNvPr id="0" name=""/>
        <dsp:cNvSpPr/>
      </dsp:nvSpPr>
      <dsp:spPr>
        <a:xfrm>
          <a:off x="0" y="9139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Customers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Customer company and geographic details for segmentation analysis.</a:t>
          </a:r>
        </a:p>
      </dsp:txBody>
      <dsp:txXfrm>
        <a:off x="27986" y="119379"/>
        <a:ext cx="6019917" cy="517328"/>
      </dsp:txXfrm>
    </dsp:sp>
    <dsp:sp modelId="{89C77764-2B7E-4721-BACA-30E0B1C11D1C}">
      <dsp:nvSpPr>
        <dsp:cNvPr id="0" name=""/>
        <dsp:cNvSpPr/>
      </dsp:nvSpPr>
      <dsp:spPr>
        <a:xfrm>
          <a:off x="0" y="70501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Employees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Employee information for workforce performance evaluation.</a:t>
          </a:r>
        </a:p>
      </dsp:txBody>
      <dsp:txXfrm>
        <a:off x="27986" y="732999"/>
        <a:ext cx="6019917" cy="517328"/>
      </dsp:txXfrm>
    </dsp:sp>
    <dsp:sp modelId="{300B004B-1E59-4C82-92FE-3B3CA5C72E9E}">
      <dsp:nvSpPr>
        <dsp:cNvPr id="0" name=""/>
        <dsp:cNvSpPr/>
      </dsp:nvSpPr>
      <dsp:spPr>
        <a:xfrm>
          <a:off x="0" y="1318632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Orders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Order-level transactional data for sales trend analysis.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1346618"/>
        <a:ext cx="6019917" cy="517328"/>
      </dsp:txXfrm>
    </dsp:sp>
    <dsp:sp modelId="{64C4849E-5E9A-4C27-A823-6711F25C8A22}">
      <dsp:nvSpPr>
        <dsp:cNvPr id="0" name=""/>
        <dsp:cNvSpPr/>
      </dsp:nvSpPr>
      <dsp:spPr>
        <a:xfrm>
          <a:off x="0" y="1932252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Order Details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Product-level sales data including quantity, price, and discount.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1960238"/>
        <a:ext cx="6019917" cy="517328"/>
      </dsp:txXfrm>
    </dsp:sp>
    <dsp:sp modelId="{E32AA34C-7395-4AEE-BA71-0331C68C42E6}">
      <dsp:nvSpPr>
        <dsp:cNvPr id="0" name=""/>
        <dsp:cNvSpPr/>
      </dsp:nvSpPr>
      <dsp:spPr>
        <a:xfrm>
          <a:off x="0" y="2545872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Products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Product catalog with pricing and stock information.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2573858"/>
        <a:ext cx="6019917" cy="517328"/>
      </dsp:txXfrm>
    </dsp:sp>
    <dsp:sp modelId="{BBE02A1C-175B-45F2-8BE5-2A5D631DBE87}">
      <dsp:nvSpPr>
        <dsp:cNvPr id="0" name=""/>
        <dsp:cNvSpPr/>
      </dsp:nvSpPr>
      <dsp:spPr>
        <a:xfrm>
          <a:off x="0" y="315949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Suppliers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Vendor details for supply chain analysis.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3187479"/>
        <a:ext cx="6019917" cy="517328"/>
      </dsp:txXfrm>
    </dsp:sp>
    <dsp:sp modelId="{5D1FB33A-49B9-4CC2-838E-B6C92AAE0EB3}">
      <dsp:nvSpPr>
        <dsp:cNvPr id="0" name=""/>
        <dsp:cNvSpPr/>
      </dsp:nvSpPr>
      <dsp:spPr>
        <a:xfrm>
          <a:off x="0" y="377311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Shippers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Shipping company data for logistics performance.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3801099"/>
        <a:ext cx="6019917" cy="517328"/>
      </dsp:txXfrm>
    </dsp:sp>
    <dsp:sp modelId="{41E755E2-3BA0-495D-8234-086CA1F9493B}">
      <dsp:nvSpPr>
        <dsp:cNvPr id="0" name=""/>
        <dsp:cNvSpPr/>
      </dsp:nvSpPr>
      <dsp:spPr>
        <a:xfrm>
          <a:off x="0" y="438673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Categories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Product classification for category-wise analysis.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4414719"/>
        <a:ext cx="6019917" cy="517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104D6-B482-4951-B622-F22EA4E0136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26148-EF12-4459-ABE0-EF8144741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69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26148-EF12-4459-ABE0-EF814474162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91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88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5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9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04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3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6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2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06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6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1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53" r:id="rId6"/>
    <p:sldLayoutId id="2147484249" r:id="rId7"/>
    <p:sldLayoutId id="2147484250" r:id="rId8"/>
    <p:sldLayoutId id="2147484251" r:id="rId9"/>
    <p:sldLayoutId id="2147484252" r:id="rId10"/>
    <p:sldLayoutId id="21474842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enefits of Using AI in Cross-Platform Testing">
            <a:extLst>
              <a:ext uri="{FF2B5EF4-FFF2-40B4-BE49-F238E27FC236}">
                <a16:creationId xmlns:a16="http://schemas.microsoft.com/office/drawing/2014/main" id="{EEB53F7C-5BD4-193E-046C-9F1FDAC41A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48" r="915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E282C-3836-950F-5478-22D718E93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716040"/>
            <a:ext cx="3048449" cy="71508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2000" dirty="0">
                <a:ea typeface="+mn-lt"/>
                <a:cs typeface="+mn-lt"/>
              </a:rPr>
              <a:t>Presented By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K </a:t>
            </a:r>
            <a:r>
              <a:rPr lang="en-US" sz="2000" b="1" dirty="0" err="1">
                <a:ea typeface="+mn-lt"/>
                <a:cs typeface="+mn-lt"/>
              </a:rPr>
              <a:t>Jevaneswari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Aspiring Data Analyst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0D073-5482-5891-909C-015F037F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ECA7E-CC73-1FC1-EC31-CD0AE1D8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7713336"/>
            <a:ext cx="2743200" cy="60520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536ED-28FB-B11B-9ADF-D27D0A2ED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9413389" cy="3304986"/>
          </a:xfrm>
        </p:spPr>
        <p:txBody>
          <a:bodyPr anchor="b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Northwind Traders</a:t>
            </a:r>
            <a:br>
              <a:rPr lang="en-US" sz="4800" dirty="0">
                <a:ea typeface="+mj-lt"/>
                <a:cs typeface="+mj-lt"/>
              </a:rPr>
            </a:br>
            <a:r>
              <a:rPr lang="en-US" sz="4800" b="0" dirty="0">
                <a:ea typeface="+mj-lt"/>
                <a:cs typeface="+mj-lt"/>
              </a:rPr>
              <a:t>Business Performance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57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Diagram 142">
            <a:extLst>
              <a:ext uri="{FF2B5EF4-FFF2-40B4-BE49-F238E27FC236}">
                <a16:creationId xmlns:a16="http://schemas.microsoft.com/office/drawing/2014/main" id="{5A0B2EEB-1607-4AEC-2D74-D88A808DC6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0626048"/>
              </p:ext>
            </p:extLst>
          </p:nvPr>
        </p:nvGraphicFramePr>
        <p:xfrm>
          <a:off x="5330316" y="1382991"/>
          <a:ext cx="6075890" cy="5051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26" name="TextBox 625">
            <a:extLst>
              <a:ext uri="{FF2B5EF4-FFF2-40B4-BE49-F238E27FC236}">
                <a16:creationId xmlns:a16="http://schemas.microsoft.com/office/drawing/2014/main" id="{94C24510-D7F2-C145-ACAA-3F3865B080CD}"/>
              </a:ext>
            </a:extLst>
          </p:cNvPr>
          <p:cNvSpPr txBox="1"/>
          <p:nvPr/>
        </p:nvSpPr>
        <p:spPr>
          <a:xfrm>
            <a:off x="477409" y="775590"/>
            <a:ext cx="57923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ea typeface="+mn-lt"/>
                <a:cs typeface="+mn-lt"/>
              </a:rPr>
              <a:t>Data Source &amp; Structure</a:t>
            </a:r>
            <a:endParaRPr lang="en-US" sz="3600" b="1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DBC7F41B-10D9-9B98-6594-26BC5DFA6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5B32B43-4220-B416-F9E7-85341B8BF0F8}"/>
              </a:ext>
            </a:extLst>
          </p:cNvPr>
          <p:cNvSpPr txBox="1"/>
          <p:nvPr/>
        </p:nvSpPr>
        <p:spPr>
          <a:xfrm>
            <a:off x="658791" y="1853251"/>
            <a:ext cx="450565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Source:</a:t>
            </a:r>
            <a:r>
              <a:rPr lang="en-US" dirty="0">
                <a:ea typeface="+mn-lt"/>
                <a:cs typeface="+mn-lt"/>
              </a:rPr>
              <a:t> Northwind Traders Database</a:t>
            </a:r>
          </a:p>
          <a:p>
            <a:r>
              <a:rPr lang="en-US" b="1" dirty="0">
                <a:ea typeface="+mn-lt"/>
                <a:cs typeface="+mn-lt"/>
              </a:rPr>
              <a:t>Period:</a:t>
            </a:r>
            <a:r>
              <a:rPr lang="en-US" dirty="0">
                <a:ea typeface="+mn-lt"/>
                <a:cs typeface="+mn-lt"/>
              </a:rPr>
              <a:t> 1994–1996 </a:t>
            </a:r>
            <a:endParaRPr lang="en-US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Model:</a:t>
            </a:r>
            <a:r>
              <a:rPr lang="en-US" dirty="0">
                <a:ea typeface="+mn-lt"/>
                <a:cs typeface="+mn-lt"/>
              </a:rPr>
              <a:t> Star Schema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Fact:</a:t>
            </a:r>
            <a:r>
              <a:rPr lang="en-US" dirty="0">
                <a:ea typeface="+mn-lt"/>
                <a:cs typeface="+mn-lt"/>
              </a:rPr>
              <a:t> Order Details – line-level sales transactions</a:t>
            </a:r>
            <a:br>
              <a:rPr lang="en-US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Orders:</a:t>
            </a:r>
            <a:r>
              <a:rPr lang="en-US" dirty="0">
                <a:ea typeface="+mn-lt"/>
                <a:cs typeface="+mn-lt"/>
              </a:rPr>
              <a:t> Order header (date, customer, employee, ship info)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Dimensions:</a:t>
            </a:r>
            <a:r>
              <a:rPr lang="en-US" dirty="0">
                <a:ea typeface="+mn-lt"/>
                <a:cs typeface="+mn-lt"/>
              </a:rPr>
              <a:t> Customers, Products, Categories, Suppliers, Employees, Shippers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Scale:</a:t>
            </a:r>
            <a:r>
              <a:rPr lang="en-US" dirty="0">
                <a:ea typeface="+mn-lt"/>
                <a:cs typeface="+mn-lt"/>
              </a:rPr>
              <a:t> 790 Orders | 2,155 Details | 90 Customers | 77 Products | 29 Suppliers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476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9AADA-BD21-83F2-B83D-C9E6FF458013}"/>
              </a:ext>
            </a:extLst>
          </p:cNvPr>
          <p:cNvSpPr txBox="1"/>
          <p:nvPr/>
        </p:nvSpPr>
        <p:spPr>
          <a:xfrm>
            <a:off x="477277" y="775648"/>
            <a:ext cx="107107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Data Modelling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8C6001-3028-BEF4-AFCA-5F34273F4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2C1913-C3F7-3198-9460-DE2488685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36" y="1380473"/>
            <a:ext cx="1113289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Download Navy Blue Plain Color Wallpaper | Wallpapers.com">
            <a:extLst>
              <a:ext uri="{FF2B5EF4-FFF2-40B4-BE49-F238E27FC236}">
                <a16:creationId xmlns:a16="http://schemas.microsoft.com/office/drawing/2014/main" id="{89BC5B40-7B17-8729-1B0F-48FA48744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19"/>
          <a:stretch>
            <a:fillRect/>
          </a:stretch>
        </p:blipFill>
        <p:spPr>
          <a:xfrm>
            <a:off x="20" y="11"/>
            <a:ext cx="12191980" cy="685799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FB38C-3AB7-1D7B-A979-1F32BC98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010305"/>
            <a:ext cx="8035066" cy="7052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Revenue Concentration Insight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62DDA-4E79-D39C-09F3-5DB3E7C9400A}"/>
              </a:ext>
            </a:extLst>
          </p:cNvPr>
          <p:cNvSpPr txBox="1"/>
          <p:nvPr/>
        </p:nvSpPr>
        <p:spPr>
          <a:xfrm>
            <a:off x="1624105" y="2730178"/>
            <a:ext cx="7882515" cy="28701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17" name="Picture 16" descr="A close-up of a number&#10;&#10;AI-generated content may be incorrect.">
            <a:extLst>
              <a:ext uri="{FF2B5EF4-FFF2-40B4-BE49-F238E27FC236}">
                <a16:creationId xmlns:a16="http://schemas.microsoft.com/office/drawing/2014/main" id="{7C376785-263A-6DDD-E5A3-399F5B833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15" y="4161508"/>
            <a:ext cx="2971800" cy="1190625"/>
          </a:xfrm>
          <a:prstGeom prst="rect">
            <a:avLst/>
          </a:prstGeom>
        </p:spPr>
      </p:pic>
      <p:pic>
        <p:nvPicPr>
          <p:cNvPr id="19" name="Picture 18" descr="A close-up of a logo&#10;&#10;AI-generated content may be incorrect.">
            <a:extLst>
              <a:ext uri="{FF2B5EF4-FFF2-40B4-BE49-F238E27FC236}">
                <a16:creationId xmlns:a16="http://schemas.microsoft.com/office/drawing/2014/main" id="{81B3A712-5167-FD3C-4C3E-D755870DE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53" y="2449813"/>
            <a:ext cx="2895600" cy="12006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87FCFE7-AEF4-78B3-3C75-FBBB782A5918}"/>
              </a:ext>
            </a:extLst>
          </p:cNvPr>
          <p:cNvSpPr txBox="1"/>
          <p:nvPr/>
        </p:nvSpPr>
        <p:spPr>
          <a:xfrm>
            <a:off x="4763905" y="2569019"/>
            <a:ext cx="544560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Total Revenue: $1.27M</a:t>
            </a:r>
            <a:br>
              <a:rPr lang="en-US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 Beverages is the highest revenue category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B254FD-E34B-83B4-C169-F9F8AB76B604}"/>
              </a:ext>
            </a:extLst>
          </p:cNvPr>
          <p:cNvSpPr txBox="1"/>
          <p:nvPr/>
        </p:nvSpPr>
        <p:spPr>
          <a:xfrm>
            <a:off x="4759084" y="4438854"/>
            <a:ext cx="69647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59% of revenue is generated by the top 20% of products, indicating strong revenue concentration and dependency risk.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59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ownload Navy Blue Plain Color Wallpaper | Wallpapers.com">
            <a:extLst>
              <a:ext uri="{FF2B5EF4-FFF2-40B4-BE49-F238E27FC236}">
                <a16:creationId xmlns:a16="http://schemas.microsoft.com/office/drawing/2014/main" id="{6E2F273E-453B-9895-5D8C-ED6AF3F62F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0" b="3848"/>
          <a:stretch>
            <a:fillRect/>
          </a:stretch>
        </p:blipFill>
        <p:spPr>
          <a:xfrm>
            <a:off x="20" y="10"/>
            <a:ext cx="12191993" cy="685800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D01E3-89F1-1FFB-5DF4-B12249895A30}"/>
              </a:ext>
            </a:extLst>
          </p:cNvPr>
          <p:cNvSpPr txBox="1"/>
          <p:nvPr/>
        </p:nvSpPr>
        <p:spPr>
          <a:xfrm>
            <a:off x="477981" y="1178392"/>
            <a:ext cx="8040887" cy="5397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Revenue Growth Trend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A graph with a line&#10;&#10;AI-generated content may be incorrect.">
            <a:extLst>
              <a:ext uri="{FF2B5EF4-FFF2-40B4-BE49-F238E27FC236}">
                <a16:creationId xmlns:a16="http://schemas.microsoft.com/office/drawing/2014/main" id="{EB68E51E-9C75-63D3-6C85-6BE91BE96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81" y="2000531"/>
            <a:ext cx="6423213" cy="37085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190C20-4AE1-1DCD-093D-0A21A249FB7B}"/>
              </a:ext>
            </a:extLst>
          </p:cNvPr>
          <p:cNvSpPr txBox="1"/>
          <p:nvPr/>
        </p:nvSpPr>
        <p:spPr>
          <a:xfrm>
            <a:off x="7241191" y="4251072"/>
            <a:ext cx="43686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Insight:</a:t>
            </a:r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Revenue exhibits stable growth with increasing momentum toward 1996.</a:t>
            </a:r>
            <a:br>
              <a:rPr lang="en-US" dirty="0">
                <a:solidFill>
                  <a:schemeClr val="bg1"/>
                </a:solidFill>
              </a:rPr>
            </a:b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25E575-78F4-A538-B2E5-B5FE382F69DA}"/>
              </a:ext>
            </a:extLst>
          </p:cNvPr>
          <p:cNvSpPr txBox="1"/>
          <p:nvPr/>
        </p:nvSpPr>
        <p:spPr>
          <a:xfrm>
            <a:off x="7241243" y="2680177"/>
            <a:ext cx="436602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Revenue shows an upward trend from 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1994 to 1996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Minor fluctuations but overall positive growth trajectory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49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29A9D-DC80-756E-3C00-BC8772D46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14"/>
          <a:stretch>
            <a:fillRect/>
          </a:stretch>
        </p:blipFill>
        <p:spPr>
          <a:xfrm>
            <a:off x="20" y="10"/>
            <a:ext cx="12191993" cy="68535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00CF6-E6D8-F1F7-3752-7DE8472C2354}"/>
              </a:ext>
            </a:extLst>
          </p:cNvPr>
          <p:cNvSpPr txBox="1"/>
          <p:nvPr/>
        </p:nvSpPr>
        <p:spPr>
          <a:xfrm>
            <a:off x="477981" y="1010305"/>
            <a:ext cx="8853095" cy="70522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Discount Strategy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with blue bars and orange line&#10;&#10;AI-generated content may be incorrect.">
            <a:extLst>
              <a:ext uri="{FF2B5EF4-FFF2-40B4-BE49-F238E27FC236}">
                <a16:creationId xmlns:a16="http://schemas.microsoft.com/office/drawing/2014/main" id="{CE67DFA6-9DD7-1ABD-CB55-20A569B3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65" y="1889031"/>
            <a:ext cx="6159312" cy="4178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F58E4B-6721-A2E8-5F2F-3988F6DB22CD}"/>
              </a:ext>
            </a:extLst>
          </p:cNvPr>
          <p:cNvSpPr txBox="1"/>
          <p:nvPr/>
        </p:nvSpPr>
        <p:spPr>
          <a:xfrm>
            <a:off x="7171764" y="1367118"/>
            <a:ext cx="443753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9C3E20-D59D-339D-ECE2-0F3FA15D06B5}"/>
              </a:ext>
            </a:extLst>
          </p:cNvPr>
          <p:cNvSpPr txBox="1"/>
          <p:nvPr/>
        </p:nvSpPr>
        <p:spPr>
          <a:xfrm>
            <a:off x="7173880" y="4385160"/>
            <a:ext cx="44333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Insight:</a:t>
            </a:r>
            <a:endParaRPr lang="en-US"/>
          </a:p>
          <a:p>
            <a:r>
              <a:rPr lang="en-US" dirty="0">
                <a:solidFill>
                  <a:schemeClr val="bg1"/>
                </a:solidFill>
              </a:rPr>
              <a:t>Discount effectiveness is inconsistent, highlighting opportunities for strategic price optimization.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97FDF-66BC-F0DC-4991-2964C93DCA72}"/>
              </a:ext>
            </a:extLst>
          </p:cNvPr>
          <p:cNvSpPr txBox="1"/>
          <p:nvPr/>
        </p:nvSpPr>
        <p:spPr>
          <a:xfrm>
            <a:off x="7168418" y="2506164"/>
            <a:ext cx="433487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</a:rPr>
              <a:t>Some high-discount categories generate relatively lower revenue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</a:rPr>
              <a:t>Revenue response to discounts varies significantly across categories</a:t>
            </a:r>
          </a:p>
        </p:txBody>
      </p:sp>
    </p:spTree>
    <p:extLst>
      <p:ext uri="{BB962C8B-B14F-4D97-AF65-F5344CB8AC3E}">
        <p14:creationId xmlns:p14="http://schemas.microsoft.com/office/powerpoint/2010/main" val="145796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91694848-3071-C90E-5356-68589F9CB9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2"/>
          <a:stretch>
            <a:fillRect/>
          </a:stretch>
        </p:blipFill>
        <p:spPr>
          <a:xfrm>
            <a:off x="20" y="10"/>
            <a:ext cx="12191993" cy="68574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E832C-79D1-BFC1-8EFD-865046374DEB}"/>
              </a:ext>
            </a:extLst>
          </p:cNvPr>
          <p:cNvSpPr txBox="1"/>
          <p:nvPr/>
        </p:nvSpPr>
        <p:spPr>
          <a:xfrm>
            <a:off x="477981" y="1010305"/>
            <a:ext cx="8203153" cy="59316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Customer Value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blue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5E5DDD42-5207-5FFB-B186-EE6B46F16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2" y="3130923"/>
            <a:ext cx="5639360" cy="2758888"/>
          </a:xfrm>
          <a:prstGeom prst="rect">
            <a:avLst/>
          </a:prstGeom>
        </p:spPr>
      </p:pic>
      <p:pic>
        <p:nvPicPr>
          <p:cNvPr id="7" name="Picture 6" descr="A close up of numbers&#10;&#10;AI-generated content may be incorrect.">
            <a:extLst>
              <a:ext uri="{FF2B5EF4-FFF2-40B4-BE49-F238E27FC236}">
                <a16:creationId xmlns:a16="http://schemas.microsoft.com/office/drawing/2014/main" id="{6A8F69AF-1D56-967C-D318-F559ED046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02" y="1718983"/>
            <a:ext cx="2962275" cy="971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6AA20B-F658-0DC4-4483-E66F3FF6E9FA}"/>
              </a:ext>
            </a:extLst>
          </p:cNvPr>
          <p:cNvSpPr txBox="1"/>
          <p:nvPr/>
        </p:nvSpPr>
        <p:spPr>
          <a:xfrm>
            <a:off x="6605598" y="1605869"/>
            <a:ext cx="392571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Total Customers: 88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42% are High-Value Customers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Retention Rate: 95%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Average Customer Lifetime Value: $14.38K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A821F-1892-F292-E029-87EA398E7A54}"/>
              </a:ext>
            </a:extLst>
          </p:cNvPr>
          <p:cNvSpPr txBox="1"/>
          <p:nvPr/>
        </p:nvSpPr>
        <p:spPr>
          <a:xfrm>
            <a:off x="6603433" y="3622798"/>
            <a:ext cx="490552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 high retention rate of 95% combined with a significant proportion of high-value customers indicates strong customer loyalty and stable recurring revenue potential.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46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11B9CA67-2C0E-B2B0-12C4-5F2AF94EFA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69"/>
          <a:stretch>
            <a:fillRect/>
          </a:stretch>
        </p:blipFill>
        <p:spPr>
          <a:xfrm>
            <a:off x="20" y="10"/>
            <a:ext cx="12191993" cy="68534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9F3AE6FD-6C55-D7D1-240F-71B6AE40B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3" y="1737193"/>
            <a:ext cx="6363261" cy="4280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2FFA57-2F79-CF34-5A5A-E9C9952B5F19}"/>
              </a:ext>
            </a:extLst>
          </p:cNvPr>
          <p:cNvSpPr txBox="1"/>
          <p:nvPr/>
        </p:nvSpPr>
        <p:spPr>
          <a:xfrm>
            <a:off x="7273198" y="2252963"/>
            <a:ext cx="433648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Seafood shows 21 days of stock coverage, indicating potential overstock risk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Produce has only 4 days of coverage, indicating possible stockout risk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DC16D8-4902-FF73-A9F5-8ABA3D0F8BB1}"/>
              </a:ext>
            </a:extLst>
          </p:cNvPr>
          <p:cNvSpPr txBox="1"/>
          <p:nvPr/>
        </p:nvSpPr>
        <p:spPr>
          <a:xfrm>
            <a:off x="7270351" y="4182963"/>
            <a:ext cx="433927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Insights: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Significant variation in stock coverage across categories suggests inventory imbalance, increasing both holding cost risk and potential lost sales.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A6AE4-5B2C-03E8-F88F-06FB64CC8DD2}"/>
              </a:ext>
            </a:extLst>
          </p:cNvPr>
          <p:cNvSpPr txBox="1"/>
          <p:nvPr/>
        </p:nvSpPr>
        <p:spPr>
          <a:xfrm>
            <a:off x="576857" y="960370"/>
            <a:ext cx="75919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Inventory Risk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19997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D1C75402-3D06-02A3-E9F5-6BC37C7528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55"/>
          <a:stretch>
            <a:fillRect/>
          </a:stretch>
        </p:blipFill>
        <p:spPr>
          <a:xfrm>
            <a:off x="20" y="10"/>
            <a:ext cx="12191993" cy="685318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21FAD-C3DD-1ADE-A9BB-891334B1F0CE}"/>
              </a:ext>
            </a:extLst>
          </p:cNvPr>
          <p:cNvSpPr txBox="1"/>
          <p:nvPr/>
        </p:nvSpPr>
        <p:spPr>
          <a:xfrm>
            <a:off x="477981" y="954275"/>
            <a:ext cx="5726655" cy="58195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Inventory Efficiency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with blue squares and orange lines&#10;&#10;AI-generated content may be incorrect.">
            <a:extLst>
              <a:ext uri="{FF2B5EF4-FFF2-40B4-BE49-F238E27FC236}">
                <a16:creationId xmlns:a16="http://schemas.microsoft.com/office/drawing/2014/main" id="{FC57D853-869C-6FB3-1C22-3E0734CB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44" y="1714220"/>
            <a:ext cx="5791759" cy="39562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294792-A272-DE72-0789-B096507BDC9B}"/>
              </a:ext>
            </a:extLst>
          </p:cNvPr>
          <p:cNvSpPr txBox="1"/>
          <p:nvPr/>
        </p:nvSpPr>
        <p:spPr>
          <a:xfrm>
            <a:off x="6592408" y="2124108"/>
            <a:ext cx="397520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Inventory Turnover Ratio: 16.45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Total Units Sold: 51K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8 Active Product Categories</a:t>
            </a:r>
            <a:endParaRPr lang="en-US">
              <a:solidFill>
                <a:schemeClr val="bg1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4189A-DE3A-498A-4423-3D813831897A}"/>
              </a:ext>
            </a:extLst>
          </p:cNvPr>
          <p:cNvSpPr txBox="1"/>
          <p:nvPr/>
        </p:nvSpPr>
        <p:spPr>
          <a:xfrm>
            <a:off x="6591571" y="3594924"/>
            <a:ext cx="502120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Insights:</a:t>
            </a:r>
          </a:p>
          <a:p>
            <a:r>
              <a:rPr lang="en-US" dirty="0">
                <a:solidFill>
                  <a:schemeClr val="bg2"/>
                </a:solidFill>
              </a:rPr>
              <a:t>A turnover ratio of 16.45 indicates healthy overall inventory movement; however, efficiency may vary across categories, suggesting uneven stock utilization.</a:t>
            </a:r>
          </a:p>
        </p:txBody>
      </p:sp>
    </p:spTree>
    <p:extLst>
      <p:ext uri="{BB962C8B-B14F-4D97-AF65-F5344CB8AC3E}">
        <p14:creationId xmlns:p14="http://schemas.microsoft.com/office/powerpoint/2010/main" val="263886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46723E1F-BD4F-E38B-1B0A-1C16716C99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10"/>
          <a:stretch>
            <a:fillRect/>
          </a:stretch>
        </p:blipFill>
        <p:spPr>
          <a:xfrm>
            <a:off x="20" y="10"/>
            <a:ext cx="12191993" cy="685287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319B8-2DAC-DE38-EC53-D788E7FE4826}"/>
              </a:ext>
            </a:extLst>
          </p:cNvPr>
          <p:cNvSpPr txBox="1"/>
          <p:nvPr/>
        </p:nvSpPr>
        <p:spPr>
          <a:xfrm>
            <a:off x="578837" y="909450"/>
            <a:ext cx="8752242" cy="70522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Workforce Productivity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9B720E0F-6C1A-4DE5-B298-AE3516979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21" y="2986930"/>
            <a:ext cx="5702114" cy="3102909"/>
          </a:xfrm>
          <a:prstGeom prst="rect">
            <a:avLst/>
          </a:prstGeom>
        </p:spPr>
      </p:pic>
      <p:pic>
        <p:nvPicPr>
          <p:cNvPr id="6" name="Picture 5" descr="A screen shot of a number&#10;&#10;AI-generated content may be incorrect.">
            <a:extLst>
              <a:ext uri="{FF2B5EF4-FFF2-40B4-BE49-F238E27FC236}">
                <a16:creationId xmlns:a16="http://schemas.microsoft.com/office/drawing/2014/main" id="{75EACD92-25D4-8BA6-82A3-666D5D3E6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21" y="1720663"/>
            <a:ext cx="2847975" cy="1047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DF48A2-EE03-6DF2-3CC6-50551332710F}"/>
              </a:ext>
            </a:extLst>
          </p:cNvPr>
          <p:cNvSpPr txBox="1"/>
          <p:nvPr/>
        </p:nvSpPr>
        <p:spPr>
          <a:xfrm>
            <a:off x="6515974" y="1507810"/>
            <a:ext cx="408544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Performance Index: 83% (Target:85%)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On-Time Delivery Rate: 96%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Revenue contribution varies across employees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C0CD9-9C45-FD96-5DEE-885BC343A40D}"/>
              </a:ext>
            </a:extLst>
          </p:cNvPr>
          <p:cNvSpPr txBox="1"/>
          <p:nvPr/>
        </p:nvSpPr>
        <p:spPr>
          <a:xfrm>
            <a:off x="6614793" y="3443556"/>
            <a:ext cx="4978042" cy="20761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While operational delivery performance is high at 96%, the overall performance index remains slightly below target, indicating potential productivity gaps across the workforce.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8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3F92CE45-818C-2A52-B718-33C7351BAD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59"/>
          <a:stretch>
            <a:fillRect/>
          </a:stretch>
        </p:blipFill>
        <p:spPr>
          <a:xfrm>
            <a:off x="20" y="10"/>
            <a:ext cx="12191993" cy="68601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CBA5D-8F7C-BB79-EE25-326EB79D9202}"/>
              </a:ext>
            </a:extLst>
          </p:cNvPr>
          <p:cNvSpPr txBox="1"/>
          <p:nvPr/>
        </p:nvSpPr>
        <p:spPr>
          <a:xfrm>
            <a:off x="578833" y="898244"/>
            <a:ext cx="9009978" cy="7164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Supplier Performance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93EA2D3-553B-F27B-B2FF-EDE650BC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45" y="3171265"/>
            <a:ext cx="5985061" cy="305920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7BBDE3-70FE-23B7-B8BA-772DAE335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45" y="1893794"/>
            <a:ext cx="2847975" cy="104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0C0131-A96E-CDA8-4C70-828FB5F66CBF}"/>
              </a:ext>
            </a:extLst>
          </p:cNvPr>
          <p:cNvSpPr txBox="1"/>
          <p:nvPr/>
        </p:nvSpPr>
        <p:spPr>
          <a:xfrm>
            <a:off x="7174224" y="1888810"/>
            <a:ext cx="399867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Total Suppliers: 29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Average Delivery Delay: 6.5 days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Revenue is concentrated among a small group of key suppliers</a:t>
            </a:r>
            <a:endParaRPr lang="en-US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971E9-F180-68E5-6A73-70ED6ED881A8}"/>
              </a:ext>
            </a:extLst>
          </p:cNvPr>
          <p:cNvSpPr txBox="1"/>
          <p:nvPr/>
        </p:nvSpPr>
        <p:spPr>
          <a:xfrm>
            <a:off x="7175011" y="3684571"/>
            <a:ext cx="442126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Revenue concentration among key suppliers combined with an average delay of 6.5 days indicates supply chain dependency risk and potential service disruption.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651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">
            <a:extLst>
              <a:ext uri="{FF2B5EF4-FFF2-40B4-BE49-F238E27FC236}">
                <a16:creationId xmlns:a16="http://schemas.microsoft.com/office/drawing/2014/main" id="{594CAAA5-1BA5-F44F-7272-0215094AD1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64"/>
          <a:stretch>
            <a:fillRect/>
          </a:stretch>
        </p:blipFill>
        <p:spPr>
          <a:xfrm>
            <a:off x="20" y="10"/>
            <a:ext cx="12191993" cy="68570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034BE-4D1D-3D13-BD42-83FD06EC826C}"/>
              </a:ext>
            </a:extLst>
          </p:cNvPr>
          <p:cNvSpPr txBox="1"/>
          <p:nvPr/>
        </p:nvSpPr>
        <p:spPr>
          <a:xfrm>
            <a:off x="567702" y="896033"/>
            <a:ext cx="1124365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a typeface="+mn-lt"/>
                <a:cs typeface="+mn-lt"/>
              </a:rPr>
              <a:t>Based on the analysis, the following strategic initiatives are recommended: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2ED39-4EEB-4CCD-CE6B-6D906F4BB70E}"/>
              </a:ext>
            </a:extLst>
          </p:cNvPr>
          <p:cNvSpPr txBox="1"/>
          <p:nvPr/>
        </p:nvSpPr>
        <p:spPr>
          <a:xfrm>
            <a:off x="590550" y="2231735"/>
            <a:ext cx="1024749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Diversify revenue streams to reduce dependency on top-performing products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Implement category-specific discount optimization 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Align inventory levels with demand patterns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Strengthen supplier performance monitoring and diversification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Enhance workforce productivity and customer engagement through targeted performance strategies.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47123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566</Words>
  <Application>Microsoft Office PowerPoint</Application>
  <PresentationFormat>Widescreen</PresentationFormat>
  <Paragraphs>72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AccentBoxVTI</vt:lpstr>
      <vt:lpstr>Northwind Traders Business Performance Analysis</vt:lpstr>
      <vt:lpstr>PowerPoint Presentation</vt:lpstr>
      <vt:lpstr>PowerPoint Presentation</vt:lpstr>
      <vt:lpstr>Revenue Concentration Insight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Jevaneswari</dc:creator>
  <cp:lastModifiedBy>K JEVANESWARI</cp:lastModifiedBy>
  <cp:revision>1339</cp:revision>
  <dcterms:created xsi:type="dcterms:W3CDTF">2026-02-21T13:46:55Z</dcterms:created>
  <dcterms:modified xsi:type="dcterms:W3CDTF">2026-03-02T21:40:34Z</dcterms:modified>
</cp:coreProperties>
</file>